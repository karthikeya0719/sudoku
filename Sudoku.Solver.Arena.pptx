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HACKATHON • DAA / ALGORITHM-CENTRIC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6494"/>
            <a:ext cx="7772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dirty="0">
                <a:solidFill>
                  <a:srgbClr val="F5F7FA"/>
                </a:solidFill>
                <a:latin typeface="Aptos"/>
              </a:rPr>
              <a:t>Sudoku Solver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98724"/>
            <a:ext cx="6675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AAB5C7"/>
                </a:solidFill>
                <a:latin typeface="Aptos"/>
              </a:rPr>
              <a:t>Interactive Sudoku solving with validation, backtracking, and step-by-step visualization.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86823"/>
            <a:ext cx="6446520" cy="345712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1620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D3FF"/>
                </a:solidFill>
                <a:latin typeface="Aptos"/>
              </a:rPr>
              <a:t>ONE-LINE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6978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F5F7FA"/>
                </a:solidFill>
                <a:latin typeface="Aptos"/>
              </a:rPr>
              <a:t>Turn a Sudoku solver into an explainable visual arena —
showing every placement, constraint check and backtrack instead of only the final grid.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650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35D3FF"/>
                </a:solidFill>
                <a:latin typeface="Apto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3591"/>
            <a:ext cx="448056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F5F7FA"/>
                </a:solidFill>
                <a:latin typeface="Aptos"/>
              </a:rPr>
              <a:t>D.Karthikeya</a:t>
            </a:r>
            <a:r>
              <a:rPr lang="en-US" b="0" dirty="0">
                <a:solidFill>
                  <a:srgbClr val="F5F7FA"/>
                </a:solidFill>
                <a:latin typeface="Aptos"/>
              </a:rPr>
              <a:t> Reddy    25MVCSMR0389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5F7FA"/>
                </a:solidFill>
                <a:latin typeface="Aptos"/>
              </a:rPr>
              <a:t>G.Charan</a:t>
            </a:r>
            <a:r>
              <a:rPr lang="en-US" dirty="0">
                <a:solidFill>
                  <a:srgbClr val="F5F7FA"/>
                </a:solidFill>
                <a:latin typeface="Aptos"/>
              </a:rPr>
              <a:t> Tej Reddy    25MVCSMR0393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rgbClr val="F5F7FA"/>
                </a:solidFill>
                <a:latin typeface="Aptos"/>
              </a:rPr>
              <a:t>B.</a:t>
            </a:r>
            <a:r>
              <a:rPr lang="en-US" dirty="0" err="1">
                <a:solidFill>
                  <a:srgbClr val="F5F7FA"/>
                </a:solidFill>
                <a:latin typeface="Aptos"/>
              </a:rPr>
              <a:t>Ruthwik</a:t>
            </a:r>
            <a:r>
              <a:rPr lang="en-US" dirty="0">
                <a:solidFill>
                  <a:srgbClr val="F5F7FA"/>
                </a:solidFill>
                <a:latin typeface="Aptos"/>
              </a:rPr>
              <a:t>                        25MVCSMR0377</a:t>
            </a:r>
            <a:endParaRPr lang="en-US" b="0" dirty="0">
              <a:solidFill>
                <a:srgbClr val="F5F7FA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5F7FA"/>
                </a:solidFill>
                <a:latin typeface="Aptos"/>
              </a:rPr>
              <a:t>S.Gopal</a:t>
            </a:r>
            <a:r>
              <a:rPr lang="en-US" dirty="0">
                <a:solidFill>
                  <a:srgbClr val="F5F7FA"/>
                </a:solidFill>
                <a:latin typeface="Aptos"/>
              </a:rPr>
              <a:t>                             25MVCSMR0437</a:t>
            </a:r>
            <a:endParaRPr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79" y="2926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Problem Domain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310128"/>
            <a:ext cx="3931920" cy="39319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336499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Constraint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822191"/>
            <a:ext cx="3931920" cy="39319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87705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Backtracking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334256"/>
            <a:ext cx="3931920" cy="39319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438912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Algorithm 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846320"/>
            <a:ext cx="3931920" cy="39319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490118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Interactive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555955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FDC97"/>
                </a:solidFill>
                <a:latin typeface="Aptos"/>
              </a:rPr>
              <a:t>Core Algorithms: Backtracking + Constraint Checking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04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Derived directly from the supplied problem statement: accept, validate, solve and make the search understandable.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65760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44752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REAL-WORLD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A normal Sudoku program often returns only the completed grid. That hides the algorithmic decisions that produced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154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Users need to enter or edit a puzzle.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Invalid duplicate entries must be detected.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The solver must build a solution incrementally.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The result should explain why choices were made.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324612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444752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7830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78308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Constraint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96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49631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Search-space explosion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0954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209544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Visible backtracking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92277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922776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Fair algorithm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6360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4636008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Readable user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325880"/>
            <a:ext cx="356616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2" y="1444752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7830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project is designed as an algorithm demonstrator, not just a puzzle calculator.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743200"/>
            <a:ext cx="2971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Makes DAA concepts observable.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Shows the cost of wrong decisions.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Highlights how constraints prune invalid choices.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Lets users replay the exact search path.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Supports side-by-side comparison of strategies.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04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An explainable Sudoku arena built around the search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65760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44752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3063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5D3FF"/>
                </a:solidFill>
                <a:latin typeface="Aptos"/>
              </a:rPr>
              <a:t>Don't just solve Sudoku.
SHOW HOW it is solved.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28416"/>
            <a:ext cx="3063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F5F7FA"/>
                </a:solidFill>
                <a:latin typeface="Aptos"/>
              </a:rPr>
              <a:t>Every important decision becomes a </a:t>
            </a:r>
            <a:r>
              <a:rPr sz="1500" b="0" dirty="0" err="1">
                <a:solidFill>
                  <a:srgbClr val="F5F7FA"/>
                </a:solidFill>
                <a:latin typeface="Aptos"/>
              </a:rPr>
              <a:t>replayable</a:t>
            </a:r>
            <a:r>
              <a:rPr sz="1500" b="0" dirty="0">
                <a:solidFill>
                  <a:srgbClr val="F5F7FA"/>
                </a:solidFill>
                <a:latin typeface="Aptos"/>
              </a:rPr>
              <a:t> event: placement → constraint check → deeper search → backtrack when necessary.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48056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AAB5C7"/>
                </a:solidFill>
                <a:latin typeface="Aptos"/>
              </a:rPr>
              <a:t>Design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737624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3FDC97"/>
                </a:solidFill>
                <a:latin typeface="Aptos"/>
              </a:rPr>
              <a:t>Understandable result &gt; black-box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325880"/>
            <a:ext cx="324612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444752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764792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D3FF"/>
                </a:solidFill>
                <a:latin typeface="Aptos"/>
              </a:rPr>
              <a:t>Puzzle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1755648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Sample, pasted text, or 9×9 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514600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D3FF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505456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Row / column / 3×3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26440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D3FF"/>
                </a:solidFill>
                <a:latin typeface="Aptos"/>
              </a:rPr>
              <a:t>Visualizer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3255264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Slider, previous, next and 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4014215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D3FF"/>
                </a:solidFill>
                <a:latin typeface="Aptos"/>
              </a:rPr>
              <a:t>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4005072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Cell, candidate list and search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764024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5D3FF"/>
                </a:solidFill>
                <a:latin typeface="Aptos"/>
              </a:rPr>
              <a:t>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475488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Placements, backtracks, checks and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325880"/>
            <a:ext cx="356616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5592" y="1444752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UNIQUE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7830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Two search strategies use the same interface: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514600"/>
            <a:ext cx="2926080" cy="1005840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2697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D4C"/>
                </a:solidFill>
                <a:latin typeface="Aptos"/>
              </a:rPr>
              <a:t>Plain Backtracking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9008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5C7"/>
                </a:solidFill>
                <a:latin typeface="Aptos"/>
              </a:rPr>
              <a:t>First empty cell → try 1–9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703320"/>
            <a:ext cx="2926080" cy="1005840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8862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FDC97"/>
                </a:solidFill>
                <a:latin typeface="Aptos"/>
              </a:rPr>
              <a:t>Backtracking + MRV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1788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5C7"/>
                </a:solidFill>
                <a:latin typeface="Aptos"/>
              </a:rPr>
              <a:t>Fewest legal candidates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074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→ Same answer, different search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04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Input → validation → constraint-driven search → replayable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572768" cy="19659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664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21E"/>
                </a:solidFill>
                <a:latin typeface="Aptos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1636776"/>
            <a:ext cx="365760" cy="365760"/>
          </a:xfrm>
          <a:prstGeom prst="ellipse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9224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5D3FF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542032"/>
            <a:ext cx="1325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A"/>
                </a:solidFill>
                <a:latin typeface="Aptos"/>
              </a:rPr>
              <a:t>Sample / paste / grid editor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75688" y="2468880"/>
            <a:ext cx="283464" cy="0"/>
          </a:xfrm>
          <a:prstGeom prst="line">
            <a:avLst/>
          </a:prstGeom>
          <a:ln w="3175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04872" y="1508760"/>
            <a:ext cx="1572768" cy="19659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" y="1664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21E"/>
                </a:solidFill>
                <a:latin typeface="Aptos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2514600" y="1636776"/>
            <a:ext cx="365760" cy="365760"/>
          </a:xfrm>
          <a:prstGeom prst="ellipse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551176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5D3FF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542032"/>
            <a:ext cx="1325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A"/>
                </a:solidFill>
                <a:latin typeface="Aptos"/>
              </a:rPr>
              <a:t>Check row, column &amp; box conflicts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2468880"/>
            <a:ext cx="283465" cy="0"/>
          </a:xfrm>
          <a:prstGeom prst="line">
            <a:avLst/>
          </a:prstGeom>
          <a:ln w="3175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06824" y="1508760"/>
            <a:ext cx="1572768" cy="19659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5696" y="1664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21E"/>
                </a:solidFill>
                <a:latin typeface="Aptos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4416552" y="1636776"/>
            <a:ext cx="365760" cy="365760"/>
          </a:xfrm>
          <a:prstGeom prst="ellipse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453128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5D3FF"/>
                </a:solidFill>
                <a:latin typeface="Aptos"/>
              </a:rPr>
              <a:t>SELECT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42032"/>
            <a:ext cx="1325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A"/>
                </a:solidFill>
                <a:latin typeface="Aptos"/>
              </a:rPr>
              <a:t>Choose next cell
(first empty or MRV)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79592" y="2468880"/>
            <a:ext cx="283464" cy="0"/>
          </a:xfrm>
          <a:prstGeom prst="line">
            <a:avLst/>
          </a:prstGeom>
          <a:ln w="3175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08776" y="1508760"/>
            <a:ext cx="1572768" cy="19659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1664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21E"/>
                </a:solidFill>
                <a:latin typeface="Aptos"/>
              </a:rPr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6318504" y="1636776"/>
            <a:ext cx="365760" cy="365760"/>
          </a:xfrm>
          <a:prstGeom prst="ellipse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355080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5D3FF"/>
                </a:solidFill>
                <a:latin typeface="Aptos"/>
              </a:rPr>
              <a:t>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542032"/>
            <a:ext cx="1325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A"/>
                </a:solidFill>
                <a:latin typeface="Aptos"/>
              </a:rPr>
              <a:t>Test legal digits 1–9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81544" y="2468880"/>
            <a:ext cx="283464" cy="0"/>
          </a:xfrm>
          <a:prstGeom prst="line">
            <a:avLst/>
          </a:prstGeom>
          <a:ln w="3175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10728" y="1508760"/>
            <a:ext cx="1572768" cy="19659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1664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21E"/>
                </a:solidFill>
                <a:latin typeface="Aptos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8220456" y="1636776"/>
            <a:ext cx="365760" cy="365760"/>
          </a:xfrm>
          <a:prstGeom prst="ellipse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8257032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5D3FF"/>
                </a:solidFill>
                <a:latin typeface="Aptos"/>
              </a:rPr>
              <a:t>RECURSE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2542032"/>
            <a:ext cx="1325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A"/>
                </a:solidFill>
                <a:latin typeface="Aptos"/>
              </a:rPr>
              <a:t>Go deeper; undo on dead end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83496" y="2468880"/>
            <a:ext cx="283464" cy="0"/>
          </a:xfrm>
          <a:prstGeom prst="line">
            <a:avLst/>
          </a:prstGeom>
          <a:ln w="3175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12680" y="1508760"/>
            <a:ext cx="1572768" cy="19659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31552" y="1664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121E"/>
                </a:solidFill>
                <a:latin typeface="Aptos"/>
              </a:rPr>
              <a:t>6</a:t>
            </a:r>
          </a:p>
        </p:txBody>
      </p:sp>
      <p:sp>
        <p:nvSpPr>
          <p:cNvPr id="38" name="Oval 37"/>
          <p:cNvSpPr/>
          <p:nvPr/>
        </p:nvSpPr>
        <p:spPr>
          <a:xfrm>
            <a:off x="10122408" y="1636776"/>
            <a:ext cx="365760" cy="365760"/>
          </a:xfrm>
          <a:prstGeom prst="ellipse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10158984" y="21488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5D3FF"/>
                </a:solidFill>
                <a:latin typeface="Aptos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0696" y="2542032"/>
            <a:ext cx="1325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5F7FA"/>
                </a:solidFill>
                <a:latin typeface="Aptos"/>
              </a:rPr>
              <a:t>Solved grid + trace + metrics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886200"/>
            <a:ext cx="5440680" cy="20116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1" y="4005072"/>
            <a:ext cx="51114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BACKTRACKING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434840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Place candidate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331720" y="4590288"/>
            <a:ext cx="411480" cy="0"/>
          </a:xfrm>
          <a:prstGeom prst="line">
            <a:avLst/>
          </a:prstGeom>
          <a:ln w="31750">
            <a:solidFill>
              <a:srgbClr val="3F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43200" y="4315968"/>
            <a:ext cx="1325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Constraint
consistent?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60520" y="4590288"/>
            <a:ext cx="411480" cy="0"/>
          </a:xfrm>
          <a:prstGeom prst="line">
            <a:avLst/>
          </a:prstGeom>
          <a:ln w="31750">
            <a:solidFill>
              <a:srgbClr val="3F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0" y="4434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FDC97"/>
                </a:solidFill>
                <a:latin typeface="Aptos"/>
              </a:rPr>
              <a:t>Recurse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13892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5C7"/>
                </a:solidFill>
                <a:latin typeface="Aptos"/>
              </a:rPr>
              <a:t>If no completion exists → undo the choice → try the next candidate.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3886200"/>
            <a:ext cx="5212080" cy="20116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9672" y="4005072"/>
            <a:ext cx="4882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USER JOURNEY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4407408"/>
            <a:ext cx="1353312" cy="43891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65976" y="44805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Enter puzzle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5592" y="4407408"/>
            <a:ext cx="1353312" cy="43891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02167" y="44805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Fix conflicts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01784" y="4407408"/>
            <a:ext cx="1353312" cy="43891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38359" y="44805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Choose algorithm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9400" y="5065776"/>
            <a:ext cx="1353312" cy="43891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65976" y="513892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Replay steps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65592" y="5065776"/>
            <a:ext cx="1353312" cy="43891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02167" y="513892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Compare effort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01784" y="5065776"/>
            <a:ext cx="1353312" cy="438912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38359" y="513892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Understand result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Technology &amp;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04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Chosen to keep the prototype lightweight, interactive and easy to demonstrate.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97180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44752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5D3FF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8308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Core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9631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5D3FF"/>
                </a:solidFill>
                <a:latin typeface="Aptos"/>
              </a:rP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49631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Interactive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095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5D3FF"/>
                </a:solidFill>
                <a:latin typeface="Aptos"/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209544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Grid editor + metrics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2277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5D3FF"/>
                </a:solidFill>
                <a:latin typeface="Aptos"/>
              </a:rPr>
              <a:t>HTML/CSS/JS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92277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Standalone web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36008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5D3FF"/>
                </a:solidFill>
                <a:latin typeface="Aptos"/>
              </a:rPr>
              <a:t>unittest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36008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Aptos"/>
              </a:rPr>
              <a:t>Automated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1325880"/>
            <a:ext cx="370332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05072" y="1444752"/>
            <a:ext cx="3374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ALGORITHMS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18105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CD4C"/>
                </a:solidFill>
                <a:latin typeface="Aptos"/>
              </a:rPr>
              <a:t>1. Plain Backtracking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219456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Pick the first empty cell and try legal digits. Undo when a branch fails.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3200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FDC97"/>
                </a:solidFill>
                <a:latin typeface="Aptos"/>
              </a:rPr>
              <a:t>2. Backtracking + MRV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3584448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7FA"/>
                </a:solidFill>
                <a:latin typeface="Aptos"/>
              </a:rPr>
              <a:t>Pick the empty cell with the fewest legal candidates. This exposes dead ends earlier.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46634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5D3FF"/>
                </a:solidFill>
                <a:latin typeface="Aptos"/>
              </a:rPr>
              <a:t>Why chosen?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49560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Directly demonstrates the requested DAA concepts and makes the difference measurable.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325880"/>
            <a:ext cx="379476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36992" y="1444752"/>
            <a:ext cx="3465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8105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Worst-case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148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Exponential in the number of empty cells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8529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Constraint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18211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Row + column + 3×3 box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MRV heuristic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224528"/>
            <a:ext cx="2926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5F7FA"/>
                </a:solidFill>
                <a:latin typeface="Aptos"/>
              </a:rPr>
              <a:t>Reduces branching by choosing the most constrained 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1023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Safety guard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507492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5C7"/>
                </a:solidFill>
                <a:latin typeface="Aptos"/>
              </a:rPr>
              <a:t>500,000 placement limit + 20,000-step replay cap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04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Prototype results from the supplied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000" y="1193291"/>
            <a:ext cx="4572000" cy="489204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99031"/>
            <a:ext cx="4242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STEP-BY-STEP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2788920" cy="2788920"/>
          </a:xfrm>
          <a:prstGeom prst="rect">
            <a:avLst/>
          </a:prstGeom>
          <a:solidFill>
            <a:srgbClr val="FAFAFA"/>
          </a:solidFill>
          <a:ln w="1905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78559" y="18288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88440" y="1828800"/>
            <a:ext cx="309879" cy="309879"/>
          </a:xfrm>
          <a:prstGeom prst="rect">
            <a:avLst/>
          </a:prstGeom>
          <a:solidFill>
            <a:srgbClr val="FFF176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88440" y="18379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98320" y="18288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108200" y="182880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08200" y="18379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8079" y="18288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7960" y="182880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7960" y="18379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7839" y="18288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47719" y="18288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" y="21386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147824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8559" y="21386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88440" y="21386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798320" y="21386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98320" y="2147824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8200" y="21386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18079" y="21386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18079" y="2147824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27960" y="21386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37839" y="21386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47719" y="21386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47719" y="2147824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244856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78559" y="244856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488440" y="244856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88440" y="24577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98320" y="244856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98320" y="24577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8200" y="244856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418079" y="244856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18079" y="24577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27960" y="244856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27960" y="24577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37839" y="244856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47719" y="244856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68680" y="275844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178559" y="275844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488440" y="275844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488440" y="27675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98320" y="275844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798320" y="27675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8200" y="275844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418079" y="275844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18079" y="27675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27960" y="275844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27960" y="27675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37839" y="275844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347719" y="275844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68680" y="306831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307746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8559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488440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798320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108200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418079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727960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037839" y="306831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347719" y="306831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347719" y="307746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" y="33782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78559" y="33782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488440" y="337820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488440" y="33873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798320" y="337820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798320" y="33873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8200" y="33782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418079" y="337820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418079" y="33873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27960" y="337820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27960" y="338734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37839" y="33782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347719" y="337820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68680" y="36880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178559" y="36880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488440" y="36880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488440" y="369722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98320" y="36880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798320" y="369722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08200" y="36880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418079" y="36880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418079" y="369722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27960" y="3688080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727960" y="369722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037839" y="36880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347719" y="3688080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68680" y="399795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68680" y="40071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78559" y="399795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488440" y="399795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798320" y="399795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798320" y="40071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08200" y="399795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418079" y="399795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418079" y="40071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27960" y="399795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3037839" y="399795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3347719" y="399795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347719" y="400710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68680" y="430783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178559" y="430783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488440" y="430783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488440" y="43169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798320" y="430783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108200" y="430783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108200" y="43169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18079" y="430783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727960" y="4307839"/>
            <a:ext cx="309879" cy="309879"/>
          </a:xfrm>
          <a:prstGeom prst="rect">
            <a:avLst/>
          </a:prstGeom>
          <a:solidFill>
            <a:srgbClr val="E2E7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727960" y="4316983"/>
            <a:ext cx="309879" cy="300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91E28"/>
                </a:solidFill>
                <a:latin typeface="Aptos"/>
              </a:rPr>
              <a:t>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37839" y="430783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347719" y="4307839"/>
            <a:ext cx="309879" cy="309879"/>
          </a:xfrm>
          <a:prstGeom prst="rect">
            <a:avLst/>
          </a:prstGeom>
          <a:solidFill>
            <a:srgbClr val="FAFAFA"/>
          </a:solidFill>
          <a:ln w="7620">
            <a:solidFill>
              <a:srgbClr val="969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2" name="Connector 121"/>
          <p:cNvCxnSpPr/>
          <p:nvPr/>
        </p:nvCxnSpPr>
        <p:spPr>
          <a:xfrm>
            <a:off x="868680" y="1828800"/>
            <a:ext cx="0" cy="278892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68680" y="1828800"/>
            <a:ext cx="2788920" cy="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798320" y="1828800"/>
            <a:ext cx="0" cy="278892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68680" y="2758440"/>
            <a:ext cx="2788920" cy="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727960" y="1828800"/>
            <a:ext cx="0" cy="278892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68680" y="3688080"/>
            <a:ext cx="2788920" cy="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657600" y="1828800"/>
            <a:ext cx="0" cy="278892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>
            <a:cxnSpLocks/>
          </p:cNvCxnSpPr>
          <p:nvPr/>
        </p:nvCxnSpPr>
        <p:spPr>
          <a:xfrm>
            <a:off x="868680" y="4617720"/>
            <a:ext cx="2788920" cy="0"/>
          </a:xfrm>
          <a:prstGeom prst="line">
            <a:avLst/>
          </a:prstGeom>
          <a:ln w="27940">
            <a:solidFill>
              <a:srgbClr val="2328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822191" y="1965960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5D3FF"/>
                </a:solidFill>
                <a:latin typeface="Aptos"/>
              </a:rPr>
              <a:t>Current decision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22191" y="2304288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7FA"/>
                </a:solidFill>
                <a:latin typeface="Aptos"/>
              </a:rPr>
              <a:t>R1C3 → candidate 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45560" y="3249069"/>
            <a:ext cx="1051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AAB5C7"/>
                </a:solidFill>
                <a:latin typeface="Aptos"/>
              </a:rPr>
              <a:t>Legal candidates are checked before placement.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28699" y="5094044"/>
            <a:ext cx="1234440" cy="685800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03883" y="5308092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3FDC97"/>
                </a:solidFill>
                <a:latin typeface="Aptos"/>
              </a:rPr>
              <a:t>PLACE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040380" y="5094044"/>
            <a:ext cx="1234440" cy="685800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6" name="TextBox 135"/>
          <p:cNvSpPr txBox="1"/>
          <p:nvPr/>
        </p:nvSpPr>
        <p:spPr>
          <a:xfrm>
            <a:off x="3118102" y="5312910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FF914D"/>
                </a:solidFill>
                <a:latin typeface="Aptos"/>
              </a:rPr>
              <a:t>UNDO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440680" y="1280160"/>
            <a:ext cx="6126480" cy="489204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907024" y="1399031"/>
            <a:ext cx="5797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35D3FF"/>
                </a:solidFill>
                <a:latin typeface="Aptos"/>
              </a:rPr>
              <a:t>MEASURED RESULTS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715000" y="1783080"/>
            <a:ext cx="1645920" cy="10515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5852160" y="1947672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FDC97"/>
                </a:solidFill>
                <a:latin typeface="Aptos"/>
              </a:rPr>
              <a:t>49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824728" y="2423160"/>
            <a:ext cx="1426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5C7"/>
                </a:solidFill>
                <a:latin typeface="Aptos"/>
              </a:rPr>
              <a:t>MRV placements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498079" y="1783080"/>
            <a:ext cx="1645920" cy="10515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635240" y="1947672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FDC97"/>
                </a:solidFill>
                <a:latin typeface="Aptos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07807" y="2423160"/>
            <a:ext cx="1426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5C7"/>
                </a:solidFill>
                <a:latin typeface="Aptos"/>
              </a:rPr>
              <a:t>MRV backtracks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281160" y="1783080"/>
            <a:ext cx="1645920" cy="105156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418320" y="1947672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5D3FF"/>
                </a:solidFill>
                <a:latin typeface="Aptos"/>
              </a:rPr>
              <a:t>246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390888" y="2423160"/>
            <a:ext cx="1426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AB5C7"/>
                </a:solidFill>
                <a:latin typeface="Aptos"/>
              </a:rPr>
              <a:t>MRV checks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0058400" y="2999232"/>
            <a:ext cx="1188720" cy="493776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953785" y="3037096"/>
            <a:ext cx="135636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dirty="0">
                <a:solidFill>
                  <a:srgbClr val="35D3FF"/>
                </a:solidFill>
                <a:latin typeface="Aptos"/>
              </a:rPr>
              <a:t>0.20 </a:t>
            </a:r>
            <a:r>
              <a:rPr sz="2300" b="1" dirty="0" err="1">
                <a:solidFill>
                  <a:srgbClr val="35D3FF"/>
                </a:solidFill>
                <a:latin typeface="Aptos"/>
              </a:rPr>
              <a:t>ms</a:t>
            </a:r>
            <a:endParaRPr sz="2300" b="1" dirty="0">
              <a:solidFill>
                <a:srgbClr val="35D3FF"/>
              </a:solidFill>
              <a:latin typeface="Aptos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9154161" y="3149091"/>
            <a:ext cx="9692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dirty="0">
                <a:solidFill>
                  <a:srgbClr val="AAB5C7"/>
                </a:solidFill>
                <a:latin typeface="Aptos"/>
              </a:rPr>
              <a:t>Easy / MRV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733288" y="320905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5D3FF"/>
                </a:solidFill>
                <a:latin typeface="Aptos"/>
              </a:rPr>
              <a:t>Comparison on supplied sample puzzles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76894" y="3776472"/>
            <a:ext cx="12344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 dirty="0">
                <a:solidFill>
                  <a:srgbClr val="AAB5C7"/>
                </a:solidFill>
                <a:latin typeface="Aptos"/>
              </a:rPr>
              <a:t>Puzzle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013448" y="3768933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 dirty="0">
                <a:solidFill>
                  <a:srgbClr val="AAB5C7"/>
                </a:solidFill>
                <a:latin typeface="Aptos"/>
              </a:rPr>
              <a:t>Plain BT: placements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321040" y="3768933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 dirty="0">
                <a:solidFill>
                  <a:srgbClr val="AAB5C7"/>
                </a:solidFill>
                <a:latin typeface="Aptos"/>
              </a:rPr>
              <a:t>MRV: placements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559118" y="3758184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 dirty="0">
                <a:solidFill>
                  <a:srgbClr val="AAB5C7"/>
                </a:solidFill>
                <a:latin typeface="Aptos"/>
              </a:rPr>
              <a:t>Plain BT: backtracks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611464" y="3748724"/>
            <a:ext cx="905552" cy="3477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 dirty="0">
                <a:solidFill>
                  <a:srgbClr val="AAB5C7"/>
                </a:solidFill>
                <a:latin typeface="Aptos"/>
              </a:rPr>
              <a:t>MRV: backtracks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715000" y="4096512"/>
            <a:ext cx="123444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733288" y="4142232"/>
            <a:ext cx="11978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Easy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995160" y="4096512"/>
            <a:ext cx="128016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7013448" y="4142232"/>
            <a:ext cx="12435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200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366760" y="4096512"/>
            <a:ext cx="13716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8385048" y="4142232"/>
            <a:ext cx="13350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49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738360" y="4096512"/>
            <a:ext cx="132588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9756648" y="4142232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151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716768" y="4096512"/>
            <a:ext cx="6858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10735056" y="4142232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715000" y="4517136"/>
            <a:ext cx="123444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733288" y="4562856"/>
            <a:ext cx="11978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Medium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95160" y="4517136"/>
            <a:ext cx="128016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013448" y="4562856"/>
            <a:ext cx="12435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4,208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366760" y="4517136"/>
            <a:ext cx="13716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85048" y="4562856"/>
            <a:ext cx="13350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51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738360" y="4517136"/>
            <a:ext cx="132588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9756648" y="4562856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4,157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0716768" y="4517136"/>
            <a:ext cx="6858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10735056" y="4562856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715000" y="4937760"/>
            <a:ext cx="123444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5733288" y="4983480"/>
            <a:ext cx="11978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Hard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995160" y="4937760"/>
            <a:ext cx="128016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7013448" y="4983480"/>
            <a:ext cx="12435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500k*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8366760" y="4937760"/>
            <a:ext cx="13716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8385048" y="4983480"/>
            <a:ext cx="13350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718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738360" y="4937760"/>
            <a:ext cx="132588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9756648" y="4983480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499,966*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716768" y="4937760"/>
            <a:ext cx="6858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10735056" y="4983480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654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715000" y="5358384"/>
            <a:ext cx="123444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5733288" y="5404104"/>
            <a:ext cx="11978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Inkala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995160" y="5358384"/>
            <a:ext cx="128016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7013448" y="5404104"/>
            <a:ext cx="12435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49,558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366760" y="5358384"/>
            <a:ext cx="13716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8385048" y="5404104"/>
            <a:ext cx="13350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13,810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738360" y="5358384"/>
            <a:ext cx="132588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9756648" y="5404104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49,498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716768" y="5358384"/>
            <a:ext cx="685800" cy="329184"/>
          </a:xfrm>
          <a:prstGeom prst="roundRect">
            <a:avLst/>
          </a:prstGeom>
          <a:solidFill>
            <a:srgbClr val="1F283D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10735056" y="5404104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F5F7FA"/>
                </a:solidFill>
                <a:latin typeface="Aptos"/>
              </a:rPr>
              <a:t>13,750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990303" y="5760720"/>
            <a:ext cx="5440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AAB5C7"/>
                </a:solidFill>
                <a:latin typeface="Aptos"/>
              </a:rPr>
              <a:t>* Plain backtracking hits the 500,000-placement safety limit on the supplied Hard sample; MRV solves it in 718 placements.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04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5C7"/>
                </a:solidFill>
                <a:latin typeface="Aptos"/>
              </a:rPr>
              <a:t>From a working algorithm prototype to a richer learning and benchmarking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44752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CURRENT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Interactive Sudoku input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Conflict detection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Two backtracking strategies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Step-by-step replay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Live placement/backtrack counters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Algorithm comparison table + chart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Automated unit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42900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444752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NEXT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Animated decision-tree view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Heatmap of search intensity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More heuristics: degree, LCV, propagation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Puzzle difficulty estimator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Exportable solve traces</a:t>
            </a:r>
          </a:p>
          <a:p>
            <a:pPr>
              <a:spcAft>
                <a:spcPts val="7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• Educational hints for each 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25880"/>
            <a:ext cx="3611880" cy="4526280"/>
          </a:xfrm>
          <a:prstGeom prst="roundRect">
            <a:avLst/>
          </a:prstGeom>
          <a:solidFill>
            <a:srgbClr val="171E2E"/>
          </a:solidFill>
          <a:ln w="1270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1444752"/>
            <a:ext cx="3282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5D3FF"/>
                </a:solidFill>
                <a:latin typeface="Aptos"/>
              </a:rPr>
              <a:t>SCALABILITY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Scalable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5F7FA"/>
                </a:solidFill>
                <a:latin typeface="Aptos"/>
              </a:rPr>
              <a:t>The same visual framework can benchmark different constraint-solving heuristics and puzzle sizes.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37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FF"/>
                </a:solidFill>
                <a:latin typeface="Aptos"/>
              </a:rPr>
              <a:t>Final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033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FDC97"/>
                </a:solidFill>
                <a:latin typeface="Aptos"/>
              </a:rPr>
              <a:t>A Sudoku solver becomes a transparent DAA demonstration: users can see not only the answer, but the reasoning path that produced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5C7"/>
                </a:solidFill>
                <a:latin typeface="Aptos"/>
              </a:rPr>
              <a:t>Sudoku Solver Arena • Hackathon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5105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AB5C7"/>
                </a:solidFill>
                <a:latin typeface="Aptos"/>
              </a:rPr>
              <a:t>03 OCT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948</Words>
  <Application>Microsoft Office PowerPoint</Application>
  <PresentationFormat>Widescreen</PresentationFormat>
  <Paragraphs>252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Charan Tej Reddy</cp:lastModifiedBy>
  <cp:revision>2</cp:revision>
  <dcterms:created xsi:type="dcterms:W3CDTF">2013-01-27T09:14:16Z</dcterms:created>
  <dcterms:modified xsi:type="dcterms:W3CDTF">2026-10-03T05:46:07Z</dcterms:modified>
  <cp:category/>
</cp:coreProperties>
</file>